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Hook: crime doesn't stop at a station boundary, records 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 'proposed lead', never 'caught'.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ECF5"/>
                </a:solidFill>
              </a:defRPr>
            </a:pPr>
            <a:r>
              <a:rPr sz="3200" b="1">
                <a:solidFill>
                  <a:srgbClr val="E6ECF5"/>
                </a:solidFill>
              </a:rPr>
              <a:t>AEGIS: Cross-Station Crime Intelligence</a:t>
            </a:r>
          </a:p>
          <a:p>
            <a:pPr>
              <a:defRPr sz="1600" b="0">
                <a:solidFill>
                  <a:srgbClr val="8C98AA"/>
                </a:solidFill>
              </a:defRPr>
            </a:pPr>
            <a:r>
              <a:rPr sz="1600" b="0">
                <a:solidFill>
                  <a:srgbClr val="8C98AA"/>
                </a:solidFill>
              </a:rPr>
              <a:t>Agents that link crimes across police stations, and show the evidence, the doubts and the missing pieces behind every link.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6035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E6ECF5"/>
                </a:solidFill>
              </a:defRPr>
            </a:pPr>
            <a:r>
              <a:rPr sz="1700" b="0">
                <a:solidFill>
                  <a:srgbClr val="E6ECF5"/>
                </a:solidFill>
              </a:rPr>
              <a:t>Track: Solving Fragmented Intelligence · Open Agent Hackathon 2026</a:t>
            </a:r>
          </a:p>
          <a:p>
            <a:pPr>
              <a:spcAft>
                <a:spcPts val="900"/>
              </a:spcAft>
              <a:defRPr sz="1700" b="0">
                <a:solidFill>
                  <a:srgbClr val="E6ECF5"/>
                </a:solidFill>
              </a:defRPr>
            </a:pPr>
            <a:r>
              <a:rPr sz="1700" b="0">
                <a:solidFill>
                  <a:srgbClr val="E6ECF5"/>
                </a:solidFill>
              </a:rPr>
              <a:t>Zetaris NDP · Meterless Nightshift and engines · NVIDIA Nemotron</a:t>
            </a:r>
          </a:p>
        </p:txBody>
      </p:sp>
      <p:pic>
        <p:nvPicPr>
          <p:cNvPr id="5" name="Picture 4" descr="_slide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554480"/>
            <a:ext cx="5029200" cy="28289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8C98AA"/>
                </a:solidFill>
              </a:defRPr>
            </a:pPr>
            <a:r>
              <a:rPr sz="1100" b="0">
                <a:solidFill>
                  <a:srgbClr val="8C98AA"/>
                </a:solidFill>
              </a:rPr>
              <a:t>Title   ·   1/14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ECF5"/>
                </a:solidFill>
              </a:defRPr>
            </a:pPr>
            <a:r>
              <a:rPr sz="3200" b="1">
                <a:solidFill>
                  <a:srgbClr val="E6ECF5"/>
                </a:solidFill>
              </a:rPr>
              <a:t>The problem: each station sees only its own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E6ECF5"/>
                </a:solidFill>
              </a:defRPr>
            </a:pPr>
            <a:r>
              <a:rPr sz="1700" b="0">
                <a:solidFill>
                  <a:srgbClr val="E6ECF5"/>
                </a:solidFill>
              </a:rPr>
              <a:t>The same tool-mark signature appears in NORTH on Monday and CENTRAL on Thursday. Two stations each file one burglary; nobody connects them.</a:t>
            </a:r>
          </a:p>
          <a:p>
            <a:pPr>
              <a:spcAft>
                <a:spcPts val="900"/>
              </a:spcAft>
              <a:defRPr sz="1700" b="0">
                <a:solidFill>
                  <a:srgbClr val="E6ECF5"/>
                </a:solidFill>
              </a:defRPr>
            </a:pPr>
            <a:r>
              <a:rPr sz="1700" b="0">
                <a:solidFill>
                  <a:srgbClr val="E6ECF5"/>
                </a:solidFill>
              </a:rPr>
              <a:t>Evidence is fragmented too: police incidents, CCTV, witness statements, forensic reports, press.</a:t>
            </a:r>
          </a:p>
          <a:p>
            <a:pPr>
              <a:spcAft>
                <a:spcPts val="900"/>
              </a:spcAft>
              <a:defRPr sz="1700" b="0">
                <a:solidFill>
                  <a:srgbClr val="E6ECF5"/>
                </a:solidFill>
              </a:defRPr>
            </a:pPr>
            <a:r>
              <a:rPr sz="1700" b="0">
                <a:solidFill>
                  <a:srgbClr val="E6ECF5"/>
                </a:solidFill>
              </a:rPr>
              <a:t>Most records carry no explicit link, so the link has to be deduced. Real evidence conflicts, and decoys look convincing.</a:t>
            </a:r>
          </a:p>
          <a:p>
            <a:pPr>
              <a:spcAft>
                <a:spcPts val="900"/>
              </a:spcAft>
              <a:defRPr sz="1700" b="0">
                <a:solidFill>
                  <a:srgbClr val="E6ECF5"/>
                </a:solidFill>
              </a:defRPr>
            </a:pPr>
            <a:r>
              <a:rPr sz="1700" b="0">
                <a:solidFill>
                  <a:srgbClr val="E6ECF5"/>
                </a:solidFill>
              </a:rPr>
              <a:t>Users: cross-station detectives and analysts (find and test links), supervisors (review), prosecutors (defensible record).</a:t>
            </a:r>
          </a:p>
          <a:p>
            <a:pPr>
              <a:spcAft>
                <a:spcPts val="900"/>
              </a:spcAft>
              <a:defRPr sz="1700" b="0">
                <a:solidFill>
                  <a:srgbClr val="E6ECF5"/>
                </a:solidFill>
              </a:defRPr>
            </a:pPr>
            <a:r>
              <a:rPr sz="1700" b="0">
                <a:solidFill>
                  <a:srgbClr val="E6ECF5"/>
                </a:solidFill>
              </a:rPr>
              <a:t>Our data is synthetic: 10,000 records, 5 sources, 3 stations, 8 planted relationships including 2 decoys.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8C98AA"/>
                </a:solidFill>
              </a:defRPr>
            </a:pPr>
            <a:r>
              <a:rPr sz="1100" b="0">
                <a:solidFill>
                  <a:srgbClr val="8C98AA"/>
                </a:solidFill>
              </a:rPr>
              <a:t>Required point 1: problem and users   ·   2/14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ECF5"/>
                </a:solidFill>
              </a:defRPr>
            </a:pPr>
            <a:r>
              <a:rPr sz="3200" b="1">
                <a:solidFill>
                  <a:srgbClr val="E6ECF5"/>
                </a:solidFill>
              </a:rPr>
              <a:t>The solution: one question, a checked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6035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E6ECF5"/>
                </a:solidFill>
              </a:defRPr>
            </a:pPr>
            <a:r>
              <a:rPr sz="1700" b="0">
                <a:solidFill>
                  <a:srgbClr val="E6ECF5"/>
                </a:solidFill>
              </a:rPr>
              <a:t>Input: one plain-language question, e.g. 'Are the safe burglaries across NORTH and CENTRAL linked by the same pry bar?'</a:t>
            </a:r>
          </a:p>
          <a:p>
            <a:pPr>
              <a:spcAft>
                <a:spcPts val="900"/>
              </a:spcAft>
              <a:defRPr sz="1700" b="0">
                <a:solidFill>
                  <a:srgbClr val="E6ECF5"/>
                </a:solidFill>
              </a:defRPr>
            </a:pPr>
            <a:r>
              <a:rPr sz="1700" b="0">
                <a:solidFill>
                  <a:srgbClr val="E6ECF5"/>
                </a:solidFill>
              </a:rPr>
              <a:t>Agents read the sources through Zetaris and reason with Nemotron through Nightshift.</a:t>
            </a:r>
          </a:p>
          <a:p>
            <a:pPr>
              <a:spcAft>
                <a:spcPts val="900"/>
              </a:spcAft>
              <a:defRPr sz="1700" b="0">
                <a:solidFill>
                  <a:srgbClr val="E6ECF5"/>
                </a:solidFill>
              </a:defRPr>
            </a:pPr>
            <a:r>
              <a:rPr sz="1700" b="0">
                <a:solidFill>
                  <a:srgbClr val="E6ECF5"/>
                </a:solidFill>
              </a:rPr>
              <a:t>A deterministic verifier and a separate Skeptic check every link before a report is written.</a:t>
            </a:r>
          </a:p>
          <a:p>
            <a:pPr>
              <a:spcAft>
                <a:spcPts val="900"/>
              </a:spcAft>
              <a:defRPr sz="1700" b="0">
                <a:solidFill>
                  <a:srgbClr val="E6ECF5"/>
                </a:solidFill>
              </a:defRPr>
            </a:pPr>
            <a:r>
              <a:rPr sz="1700" b="0">
                <a:solidFill>
                  <a:srgbClr val="E6ECF5"/>
                </a:solidFill>
              </a:rPr>
              <a:t>Output: candidate links labelled SUPPORTED / WEAK / UNSUPPORTED with shared attributes, differences, missing evidence, objections and citations.</a:t>
            </a:r>
          </a:p>
          <a:p>
            <a:pPr>
              <a:spcAft>
                <a:spcPts val="900"/>
              </a:spcAft>
              <a:defRPr sz="1700" b="0">
                <a:solidFill>
                  <a:srgbClr val="E6ECF5"/>
                </a:solidFill>
              </a:defRPr>
            </a:pPr>
            <a:r>
              <a:rPr sz="1700" b="0">
                <a:solidFill>
                  <a:srgbClr val="E6ECF5"/>
                </a:solidFill>
              </a:rPr>
              <a:t>It can say no: without independent corroboration the answer is 'no supportable link', with the reason.</a:t>
            </a:r>
          </a:p>
        </p:txBody>
      </p:sp>
      <p:pic>
        <p:nvPicPr>
          <p:cNvPr id="5" name="Picture 4" descr="_slid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554480"/>
            <a:ext cx="5029200" cy="28289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8C98AA"/>
                </a:solidFill>
              </a:defRPr>
            </a:pPr>
            <a:r>
              <a:rPr sz="1100" b="0">
                <a:solidFill>
                  <a:srgbClr val="8C98AA"/>
                </a:solidFill>
              </a:rPr>
              <a:t>Required point 2: the solution   ·   3/14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E6ECF5"/>
                </a:solidFill>
              </a:defRPr>
            </a:pPr>
            <a:r>
              <a:rPr sz="2800" b="1">
                <a:solidFill>
                  <a:srgbClr val="E6ECF5"/>
                </a:solidFill>
              </a:rPr>
              <a:t>Agent workflow: models propose, code verifies, a Skeptic attacks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E6ECF5"/>
                </a:solidFill>
              </a:defRPr>
            </a:pPr>
            <a:r>
              <a:rPr sz="1700" b="0">
                <a:solidFill>
                  <a:srgbClr val="E6ECF5"/>
                </a:solidFill>
              </a:rPr>
              <a:t>Scout/routing, then (H-MEM recall), Planner, Zetaris SQL (code), Finder, Verifier (code), Skeptic, back to the Planner if more evidence is needed, Reporter, citation check, H-MEM store.</a:t>
            </a:r>
          </a:p>
          <a:p>
            <a:pPr>
              <a:spcAft>
                <a:spcPts val="900"/>
              </a:spcAft>
              <a:defRPr sz="1700" b="0">
                <a:solidFill>
                  <a:srgbClr val="E6ECF5"/>
                </a:solidFill>
              </a:defRPr>
            </a:pPr>
            <a:r>
              <a:rPr sz="1700" b="0">
                <a:solidFill>
                  <a:srgbClr val="E6ECF5"/>
                </a:solidFill>
              </a:rPr>
              <a:t>Bounded: 3 iterations, 24 model calls, 900 s by default; every Zetaris and Nightshift call has a timeout and a traced fallback.</a:t>
            </a:r>
          </a:p>
          <a:p>
            <a:pPr>
              <a:spcAft>
                <a:spcPts val="900"/>
              </a:spcAft>
              <a:defRPr sz="1700" b="0">
                <a:solidFill>
                  <a:srgbClr val="E6ECF5"/>
                </a:solidFill>
              </a:defRPr>
            </a:pPr>
            <a:r>
              <a:rPr sz="1700" b="0">
                <a:solidFill>
                  <a:srgbClr val="E6ECF5"/>
                </a:solidFill>
              </a:rPr>
              <a:t>Stopping reasons include evidence_sufficient, no_supportable_links_found, budget_exhausted, interrupted (resumable).</a:t>
            </a:r>
          </a:p>
          <a:p>
            <a:pPr>
              <a:spcAft>
                <a:spcPts val="900"/>
              </a:spcAft>
              <a:defRPr sz="1700" b="0">
                <a:solidFill>
                  <a:srgbClr val="E6ECF5"/>
                </a:solidFill>
              </a:defRPr>
            </a:pPr>
            <a:r>
              <a:rPr sz="1700" b="0">
                <a:solidFill>
                  <a:srgbClr val="E6ECF5"/>
                </a:solidFill>
              </a:rPr>
              <a:t>Not a fixed chain: routing, re-planning, adversarial critique, and code that has the last word.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8C98AA"/>
                </a:solidFill>
              </a:defRPr>
            </a:pPr>
            <a:r>
              <a:rPr sz="1100" b="0">
                <a:solidFill>
                  <a:srgbClr val="8C98AA"/>
                </a:solidFill>
              </a:rPr>
              <a:t>Required point 3: workflow and architecture   ·   4/14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ECF5"/>
                </a:solidFill>
              </a:defRPr>
            </a:pPr>
            <a:r>
              <a:rPr sz="3200" b="1">
                <a:solidFill>
                  <a:srgbClr val="E6ECF5"/>
                </a:solidFill>
              </a:rPr>
              <a:t>Architecture and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E6ECF5"/>
                </a:solidFill>
              </a:defRPr>
            </a:pPr>
            <a:r>
              <a:rPr sz="1700" b="0">
                <a:solidFill>
                  <a:srgbClr val="E6ECF5"/>
                </a:solidFill>
              </a:rPr>
              <a:t>Web: React 18, Vite, TypeScript: knowledge graph, execution-trace drawer, evidence pinboard.</a:t>
            </a:r>
          </a:p>
          <a:p>
            <a:pPr>
              <a:spcAft>
                <a:spcPts val="900"/>
              </a:spcAft>
              <a:defRPr sz="1700" b="0">
                <a:solidFill>
                  <a:srgbClr val="E6ECF5"/>
                </a:solidFill>
              </a:defRPr>
            </a:pPr>
            <a:r>
              <a:rPr sz="1700" b="0">
                <a:solidFill>
                  <a:srgbClr val="E6ECF5"/>
                </a:solidFill>
              </a:rPr>
              <a:t>API: FastAPI and Pydantic with typed contracts per agent (PlannerDecision, FinderOutput, SkepticReview, ReportOutput).</a:t>
            </a:r>
          </a:p>
          <a:p>
            <a:pPr>
              <a:spcAft>
                <a:spcPts val="900"/>
              </a:spcAft>
              <a:defRPr sz="1700" b="0">
                <a:solidFill>
                  <a:srgbClr val="E6ECF5"/>
                </a:solidFill>
              </a:defRPr>
            </a:pPr>
            <a:r>
              <a:rPr sz="1700" b="0">
                <a:solidFill>
                  <a:srgbClr val="E6ECF5"/>
                </a:solidFill>
              </a:rPr>
              <a:t>Data: Zetaris NDP, five federated tables. Models: NVIDIA Nemotron behind Meterless Nightshift.</a:t>
            </a:r>
          </a:p>
          <a:p>
            <a:pPr>
              <a:spcAft>
                <a:spcPts val="900"/>
              </a:spcAft>
              <a:defRPr sz="1700" b="0">
                <a:solidFill>
                  <a:srgbClr val="E6ECF5"/>
                </a:solidFill>
              </a:defRPr>
            </a:pPr>
            <a:r>
              <a:rPr sz="1700" b="0">
                <a:solidFill>
                  <a:srgbClr val="E6ECF5"/>
                </a:solidFill>
              </a:rPr>
              <a:t>Engines: Meterless H-MEM, Markovian (open references vendored, Apache-2.0), World Model and Scout (mounted).</a:t>
            </a:r>
          </a:p>
          <a:p>
            <a:pPr>
              <a:spcAft>
                <a:spcPts val="900"/>
              </a:spcAft>
              <a:defRPr sz="1700" b="0">
                <a:solidFill>
                  <a:srgbClr val="E6ECF5"/>
                </a:solidFill>
              </a:defRPr>
            </a:pPr>
            <a:r>
              <a:rPr sz="1700" b="0">
                <a:solidFill>
                  <a:srgbClr val="E6ECF5"/>
                </a:solidFill>
              </a:rPr>
              <a:t>Delivery: Docker image, POST /run and GET /health, JSONL traces, CI that runs the judge path and an offline check.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8C98AA"/>
                </a:solidFill>
              </a:defRPr>
            </a:pPr>
            <a:r>
              <a:rPr sz="1100" b="0">
                <a:solidFill>
                  <a:srgbClr val="8C98AA"/>
                </a:solidFill>
              </a:rPr>
              <a:t>Required points 3 and 4: architecture, tech stack   ·   5/14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ECF5"/>
                </a:solidFill>
              </a:defRPr>
            </a:pPr>
            <a:r>
              <a:rPr sz="3200" b="1">
                <a:solidFill>
                  <a:srgbClr val="E6ECF5"/>
                </a:solidFill>
              </a:rPr>
              <a:t>Zetaris: the load-bearing data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E6ECF5"/>
                </a:solidFill>
              </a:defRPr>
            </a:pPr>
            <a:r>
              <a:rPr sz="1700" b="0">
                <a:solidFill>
                  <a:srgbClr val="E6ECF5"/>
                </a:solidFill>
              </a:rPr>
              <a:t>Five federated tables: police_incidents (3,000), cctv (2,000), witness (2,000), forensic (1,500), newspaper (1,500).</a:t>
            </a:r>
          </a:p>
          <a:p>
            <a:pPr>
              <a:spcAft>
                <a:spcPts val="900"/>
              </a:spcAft>
              <a:defRPr sz="1700" b="0">
                <a:solidFill>
                  <a:srgbClr val="E6ECF5"/>
                </a:solidFill>
              </a:defRPr>
            </a:pPr>
            <a:r>
              <a:rPr sz="1700" b="0">
                <a:solidFill>
                  <a:srgbClr val="E6ECF5"/>
                </a:solidFill>
              </a:rPr>
              <a:t>One choke point for retrieval: read-only SELECT, bounded LIMIT, allow-listed characters; every query id is recorded in the trace.</a:t>
            </a:r>
          </a:p>
          <a:p>
            <a:pPr>
              <a:spcAft>
                <a:spcPts val="900"/>
              </a:spcAft>
              <a:defRPr sz="1700" b="0">
                <a:solidFill>
                  <a:srgbClr val="E6ECF5"/>
                </a:solidFill>
              </a:defRPr>
            </a:pPr>
            <a:r>
              <a:rPr sz="1700" b="0">
                <a:solidFill>
                  <a:srgbClr val="E6ECF5"/>
                </a:solidFill>
              </a:rPr>
              <a:t>Retrieval is relevance-scored: a bounded pool (80 rows max), IDF re-rank, corroboration-aware. This SQL has not been run against live Zetaris; only the local-sample mirror is tested.</a:t>
            </a:r>
          </a:p>
          <a:p>
            <a:pPr>
              <a:spcAft>
                <a:spcPts val="900"/>
              </a:spcAft>
              <a:defRPr sz="1700" b="0">
                <a:solidFill>
                  <a:srgbClr val="E6ECF5"/>
                </a:solidFill>
              </a:defRPr>
            </a:pPr>
            <a:r>
              <a:rPr sz="1700" b="0">
                <a:solidFill>
                  <a:srgbClr val="E6ECF5"/>
                </a:solidFill>
              </a:rPr>
              <a:t>The model never touches the database: it sees at most 14 incidents and 8 records per source, and every ID it cites is re-checked.</a:t>
            </a:r>
          </a:p>
          <a:p>
            <a:pPr>
              <a:spcAft>
                <a:spcPts val="900"/>
              </a:spcAft>
              <a:defRPr sz="1700" b="0">
                <a:solidFill>
                  <a:srgbClr val="E6ECF5"/>
                </a:solidFill>
              </a:defRPr>
            </a:pPr>
            <a:r>
              <a:rPr sz="1700" b="0">
                <a:solidFill>
                  <a:srgbClr val="E6ECF5"/>
                </a:solidFill>
              </a:rPr>
              <a:t>Live run from inside Docker (reported by the team; trace not committed, before this change): data_mode zetaris_live, query UUIDs, all five tables.</a:t>
            </a:r>
          </a:p>
          <a:p>
            <a:pPr>
              <a:spcAft>
                <a:spcPts val="900"/>
              </a:spcAft>
              <a:defRPr sz="1700" b="0">
                <a:solidFill>
                  <a:srgbClr val="E6ECF5"/>
                </a:solidFill>
              </a:defRPr>
            </a:pPr>
            <a:r>
              <a:rPr sz="1700" b="0">
                <a:solidFill>
                  <a:srgbClr val="E6ECF5"/>
                </a:solidFill>
              </a:rPr>
              <a:t>Honest fallback: with POST /run an unreachable Zetaris falls back to local sample data and the trace says so.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8C98AA"/>
                </a:solidFill>
              </a:defRPr>
            </a:pPr>
            <a:r>
              <a:rPr sz="1100" b="0">
                <a:solidFill>
                  <a:srgbClr val="8C98AA"/>
                </a:solidFill>
              </a:rPr>
              <a:t>Required point 5: sponsor technology (Zetaris)   ·   6/14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ECF5"/>
                </a:solidFill>
              </a:defRPr>
            </a:pPr>
            <a:r>
              <a:rPr sz="3200" b="1">
                <a:solidFill>
                  <a:srgbClr val="E6ECF5"/>
                </a:solidFill>
              </a:rPr>
              <a:t>Meterless engines and Nightshift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6035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E6ECF5"/>
                </a:solidFill>
              </a:defRPr>
            </a:pPr>
            <a:r>
              <a:rPr sz="1500" b="0">
                <a:solidFill>
                  <a:srgbClr val="E6ECF5"/>
                </a:solidFill>
              </a:rPr>
              <a:t>World Model: shared ledger of every decision, finding revision, objection and verdict. (test_meterless_engine.py)</a:t>
            </a:r>
          </a:p>
          <a:p>
            <a:pPr>
              <a:spcAft>
                <a:spcPts val="900"/>
              </a:spcAft>
              <a:defRPr sz="1500" b="0">
                <a:solidFill>
                  <a:srgbClr val="E6ECF5"/>
                </a:solidFill>
              </a:defRPr>
            </a:pPr>
            <a:r>
              <a:rPr sz="1500" b="0">
                <a:solidFill>
                  <a:srgbClr val="E6ECF5"/>
                </a:solidFill>
              </a:rPr>
              <a:t>H-MEM: recalls vetted leads as context only; stores only verified, Skeptic-reviewed leads (0.6 floor, secret gate). Decision memory: see slide 9. (test_engine_adapters.py, test_reference_engines.py)</a:t>
            </a:r>
          </a:p>
          <a:p>
            <a:pPr>
              <a:spcAft>
                <a:spcPts val="900"/>
              </a:spcAft>
              <a:defRPr sz="1500" b="0">
                <a:solidFill>
                  <a:srgbClr val="E6ECF5"/>
                </a:solidFill>
              </a:defRPr>
            </a:pPr>
            <a:r>
              <a:rPr sz="1500" b="0">
                <a:solidFill>
                  <a:srgbClr val="E6ECF5"/>
                </a:solidFill>
              </a:rPr>
              <a:t>Markovian: validated chunk config, 800-token carry-over, resumable runs. (test_engine_adapters.py, test_reference_engines.py)</a:t>
            </a:r>
          </a:p>
          <a:p>
            <a:pPr>
              <a:spcAft>
                <a:spcPts val="900"/>
              </a:spcAft>
              <a:defRPr sz="1500" b="0">
                <a:solidFill>
                  <a:srgbClr val="E6ECF5"/>
                </a:solidFill>
              </a:defRPr>
            </a:pPr>
            <a:r>
              <a:rPr sz="1500" b="0">
                <a:solidFill>
                  <a:srgbClr val="E6ECF5"/>
                </a:solidFill>
              </a:rPr>
              <a:t>Scout Intent: detector on every request as a safety signal; deterministic routing; refuses destructive requests. (test_engine_adapters.py)</a:t>
            </a:r>
          </a:p>
          <a:p>
            <a:pPr>
              <a:spcAft>
                <a:spcPts val="900"/>
              </a:spcAft>
              <a:defRPr sz="1500" b="0">
                <a:solidFill>
                  <a:srgbClr val="E6ECF5"/>
                </a:solidFill>
              </a:defRPr>
            </a:pPr>
            <a:r>
              <a:rPr sz="1500" b="0">
                <a:solidFill>
                  <a:srgbClr val="E6ECF5"/>
                </a:solidFill>
              </a:rPr>
              <a:t>Nightshift: the only model path; requested and answering model, receipt, latency, tokens on every call. An engine that cannot run is traced engine_unavailable, never faked.</a:t>
            </a:r>
          </a:p>
        </p:txBody>
      </p:sp>
      <p:pic>
        <p:nvPicPr>
          <p:cNvPr id="5" name="Picture 4" descr="_slide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554480"/>
            <a:ext cx="5029200" cy="28289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8C98AA"/>
                </a:solidFill>
              </a:defRPr>
            </a:pPr>
            <a:r>
              <a:rPr sz="1100" b="0">
                <a:solidFill>
                  <a:srgbClr val="8C98AA"/>
                </a:solidFill>
              </a:rPr>
              <a:t>Required point 5: sponsor technology (Meterless)   ·   7/14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ECF5"/>
                </a:solidFill>
              </a:defRPr>
            </a:pPr>
            <a:r>
              <a:rPr sz="3200" b="1">
                <a:solidFill>
                  <a:srgbClr val="E6ECF5"/>
                </a:solidFill>
              </a:rPr>
              <a:t>NVIDIA Nemotron: where it contributes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E6ECF5"/>
                </a:solidFill>
              </a:defRPr>
            </a:pPr>
            <a:r>
              <a:rPr sz="1700" b="0">
                <a:solidFill>
                  <a:srgbClr val="E6ECF5"/>
                </a:solidFill>
              </a:rPr>
              <a:t>Lightning 30B-A3B: Planner, Finder, Reporter (fast lane).</a:t>
            </a:r>
          </a:p>
          <a:p>
            <a:pPr>
              <a:spcAft>
                <a:spcPts val="900"/>
              </a:spcAft>
              <a:defRPr sz="1700" b="0">
                <a:solidFill>
                  <a:srgbClr val="E6ECF5"/>
                </a:solidFill>
              </a:defRPr>
            </a:pPr>
            <a:r>
              <a:rPr sz="1700" b="0">
                <a:solidFill>
                  <a:srgbClr val="E6ECF5"/>
                </a:solidFill>
              </a:rPr>
              <a:t>Ultra 550B-A55B: Skeptic, a different model from the Finder and never shown its score (deep lane, about 20 to 40 s per call).</a:t>
            </a:r>
          </a:p>
          <a:p>
            <a:pPr>
              <a:spcAft>
                <a:spcPts val="900"/>
              </a:spcAft>
              <a:defRPr sz="1700" b="0">
                <a:solidFill>
                  <a:srgbClr val="E6ECF5"/>
                </a:solidFill>
              </a:defRPr>
            </a:pPr>
            <a:r>
              <a:rPr sz="1700" b="0">
                <a:solidFill>
                  <a:srgbClr val="E6ECF5"/>
                </a:solidFill>
              </a:rPr>
              <a:t>Every response names the model that answered, taken from the response, not from config; fallback to Lightning is explicit with the reason.</a:t>
            </a:r>
          </a:p>
          <a:p>
            <a:pPr>
              <a:spcAft>
                <a:spcPts val="900"/>
              </a:spcAft>
              <a:defRPr sz="1700" b="0">
                <a:solidFill>
                  <a:srgbClr val="E6ECF5"/>
                </a:solidFill>
              </a:defRPr>
            </a:pPr>
            <a:r>
              <a:rPr sz="1700" b="0">
                <a:solidFill>
                  <a:srgbClr val="E6ECF5"/>
                </a:solidFill>
              </a:rPr>
              <a:t>Not used, and we say so: Embed 1B is listed but /v1/embeddings returned 404; Rerank and Bolt are not served; no vision claim.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8C98AA"/>
                </a:solidFill>
              </a:defRPr>
            </a:pPr>
            <a:r>
              <a:rPr sz="1100" b="0">
                <a:solidFill>
                  <a:srgbClr val="8C98AA"/>
                </a:solidFill>
              </a:rPr>
              <a:t>Required point 5: sponsor technology (NVIDIA)   ·   8/14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ECF5"/>
                </a:solidFill>
              </a:defRPr>
            </a:pPr>
            <a:r>
              <a:rPr sz="3200" b="1">
                <a:solidFill>
                  <a:srgbClr val="E6ECF5"/>
                </a:solidFill>
              </a:rPr>
              <a:t>What is unique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E6ECF5"/>
                </a:solidFill>
              </a:defRPr>
            </a:pPr>
            <a:r>
              <a:rPr sz="1700" b="0">
                <a:solidFill>
                  <a:srgbClr val="E6ECF5"/>
                </a:solidFill>
              </a:rPr>
              <a:t>1. 'Models propose. Code verifies. A Skeptic attacks.' IDs, verbatim quotes, shared attributes on both incidents, station and timeline are re-checked in code.</a:t>
            </a:r>
          </a:p>
          <a:p>
            <a:pPr>
              <a:spcAft>
                <a:spcPts val="900"/>
              </a:spcAft>
              <a:defRPr sz="1700" b="0">
                <a:solidFill>
                  <a:srgbClr val="E6ECF5"/>
                </a:solidFill>
              </a:defRPr>
            </a:pPr>
            <a:r>
              <a:rPr sz="1700" b="0">
                <a:solidFill>
                  <a:srgbClr val="E6ECF5"/>
                </a:solidFill>
              </a:rPr>
              <a:t>2. 'Duplicates aren't corroboration.' A repeated camera window, one witness reported twice, a newspaper article about a police-recorded incident never count as a second source.</a:t>
            </a:r>
          </a:p>
          <a:p>
            <a:pPr>
              <a:spcAft>
                <a:spcPts val="900"/>
              </a:spcAft>
              <a:defRPr sz="1700" b="0">
                <a:solidFill>
                  <a:srgbClr val="E6ECF5"/>
                </a:solidFill>
              </a:defRPr>
            </a:pPr>
            <a:r>
              <a:rPr sz="1700" b="0">
                <a:solidFill>
                  <a:srgbClr val="E6ECF5"/>
                </a:solidFill>
              </a:rPr>
              <a:t>3. 'Memory only learns what survived scrutiny.' H-MEM stores only verified, Skeptic-reviewed leads. Decision memory: such a lead can change a later retrieval order, attributed in the trace, never evidence (scripted-model tests only).</a:t>
            </a:r>
          </a:p>
          <a:p>
            <a:pPr>
              <a:spcAft>
                <a:spcPts val="900"/>
              </a:spcAft>
              <a:defRPr sz="1700" b="0">
                <a:solidFill>
                  <a:srgbClr val="E6ECF5"/>
                </a:solidFill>
              </a:defRPr>
            </a:pPr>
            <a:r>
              <a:rPr sz="1700" b="0">
                <a:solidFill>
                  <a:srgbClr val="E6ECF5"/>
                </a:solidFill>
              </a:rPr>
              <a:t>4. Runs anywhere: the real loop offline in one Docker command, and the same image goes live.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8C98AA"/>
                </a:solidFill>
              </a:defRPr>
            </a:pPr>
            <a:r>
              <a:rPr sz="1100" b="0">
                <a:solidFill>
                  <a:srgbClr val="8C98AA"/>
                </a:solidFill>
              </a:rPr>
              <a:t>Required point 6: what is unique   ·   9/14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ECF5"/>
                </a:solidFill>
              </a:defRPr>
            </a:pPr>
            <a:r>
              <a:rPr sz="3200" b="1">
                <a:solidFill>
                  <a:srgbClr val="E6ECF5"/>
                </a:solidFill>
              </a:rPr>
              <a:t>Product visuals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6035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E6ECF5"/>
                </a:solidFill>
              </a:defRPr>
            </a:pPr>
            <a:r>
              <a:rPr sz="1700" b="0">
                <a:solidFill>
                  <a:srgbClr val="E6ECF5"/>
                </a:solidFill>
              </a:rPr>
              <a:t>Live dashboard, investigation workbench, knowledge graph of the result, link cards with verifier status, execution trace. All data synthetic.</a:t>
            </a:r>
          </a:p>
        </p:txBody>
      </p:sp>
      <p:pic>
        <p:nvPicPr>
          <p:cNvPr id="5" name="Picture 4" descr="_slide_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554480"/>
            <a:ext cx="5029200" cy="28289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8C98AA"/>
                </a:solidFill>
              </a:defRPr>
            </a:pPr>
            <a:r>
              <a:rPr sz="1100" b="0">
                <a:solidFill>
                  <a:srgbClr val="8C98AA"/>
                </a:solidFill>
              </a:rPr>
              <a:t>Required point 7: visuals   ·   10/14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ECF5"/>
                </a:solidFill>
              </a:defRPr>
            </a:pPr>
            <a:r>
              <a:rPr sz="3200" b="1">
                <a:solidFill>
                  <a:srgbClr val="E6ECF5"/>
                </a:solidFill>
              </a:rPr>
              <a:t>Results, shown honestly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E6ECF5"/>
                </a:solidFill>
              </a:defRPr>
            </a:pPr>
            <a:r>
              <a:rPr sz="1700" b="0">
                <a:solidFill>
                  <a:srgbClr val="E6ECF5"/>
                </a:solidFill>
              </a:rPr>
              <a:t>Judge examples (recorded Nemotron responses) predate the retrieval change: offline now falls back to a labelled code-only path for non-matching prompts. Not re-recorded; that needs live credentials.</a:t>
            </a:r>
          </a:p>
          <a:p>
            <a:pPr>
              <a:spcAft>
                <a:spcPts val="900"/>
              </a:spcAft>
              <a:defRPr sz="1700" b="0">
                <a:solidFill>
                  <a:srgbClr val="E6ECF5"/>
                </a:solidFill>
              </a:defRPr>
            </a:pPr>
            <a:r>
              <a:rPr sz="1700" b="0">
                <a:solidFill>
                  <a:srgbClr val="E6ECF5"/>
                </a:solidFill>
              </a:rPr>
              <a:t>Reported by the team (trace not committed): live run through Docker with real Zetaris and Nightshift, before the retrieval change: full loop, real Nemotron on all four agents, zero partial failures. A live safe-burglary run retrieved the planted pair but the verifier and Skeptic refused an ungrounded link.</a:t>
            </a:r>
          </a:p>
          <a:p>
            <a:pPr>
              <a:spcAft>
                <a:spcPts val="900"/>
              </a:spcAft>
              <a:defRPr sz="1700" b="0">
                <a:solidFill>
                  <a:srgbClr val="E6ECF5"/>
                </a:solidFill>
              </a:defRPr>
            </a:pPr>
            <a:r>
              <a:rPr sz="1700" b="0">
                <a:solidFill>
                  <a:srgbClr val="E6ECF5"/>
                </a:solidFill>
              </a:rPr>
              <a:t>No model benchmark is claimed. A pre-registered evaluation and a --live harness exist but have not been run; evaluation/results.json is a scripted stand-in, so there is no real-model result.</a:t>
            </a:r>
          </a:p>
          <a:p>
            <a:pPr>
              <a:spcAft>
                <a:spcPts val="900"/>
              </a:spcAft>
              <a:defRPr sz="1700" b="0">
                <a:solidFill>
                  <a:srgbClr val="E6ECF5"/>
                </a:solidFill>
              </a:defRPr>
            </a:pPr>
            <a:r>
              <a:rPr sz="1700" b="0">
                <a:solidFill>
                  <a:srgbClr val="E6ECF5"/>
                </a:solidFill>
              </a:rPr>
              <a:t>Engineering: pytest backend/tests tests gives 284 passed, 7 skipped (run on this build, SAMPLE_MODE, engines built); secret scan on source and image; CI runs the judge path and --network none.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8C98AA"/>
                </a:solidFill>
              </a:defRPr>
            </a:pPr>
            <a:r>
              <a:rPr sz="1100" b="0">
                <a:solidFill>
                  <a:srgbClr val="8C98AA"/>
                </a:solidFill>
              </a:rPr>
              <a:t>Results   ·   11/14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ECF5"/>
                </a:solidFill>
              </a:defRPr>
            </a:pPr>
            <a:r>
              <a:rPr sz="3200" b="1">
                <a:solidFill>
                  <a:srgbClr val="E6ECF5"/>
                </a:solidFill>
              </a:rPr>
              <a:t>Responsible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E6ECF5"/>
                </a:solidFill>
              </a:defRPr>
            </a:pPr>
            <a:r>
              <a:rPr sz="1700" b="0">
                <a:solidFill>
                  <a:srgbClr val="E6ECF5"/>
                </a:solidFill>
              </a:rPr>
              <a:t>Leads, not verdicts: no determination of guilt; a human decides.</a:t>
            </a:r>
          </a:p>
          <a:p>
            <a:pPr>
              <a:spcAft>
                <a:spcPts val="900"/>
              </a:spcAft>
              <a:defRPr sz="1700" b="0">
                <a:solidFill>
                  <a:srgbClr val="E6ECF5"/>
                </a:solidFill>
              </a:defRPr>
            </a:pPr>
            <a:r>
              <a:rPr sz="1700" b="0">
                <a:solidFill>
                  <a:srgbClr val="E6ECF5"/>
                </a:solidFill>
              </a:rPr>
              <a:t>Explainable by construction: shared attributes, differences, missing evidence, objections, citations, query ids.</a:t>
            </a:r>
          </a:p>
          <a:p>
            <a:pPr>
              <a:spcAft>
                <a:spcPts val="900"/>
              </a:spcAft>
              <a:defRPr sz="1700" b="0">
                <a:solidFill>
                  <a:srgbClr val="E6ECF5"/>
                </a:solidFill>
              </a:defRPr>
            </a:pPr>
            <a:r>
              <a:rPr sz="1700" b="0">
                <a:solidFill>
                  <a:srgbClr val="E6ECF5"/>
                </a:solidFill>
              </a:rPr>
              <a:t>Models cannot invent evidence: every ID, quote and attribute is re-checked in code.</a:t>
            </a:r>
          </a:p>
          <a:p>
            <a:pPr>
              <a:spcAft>
                <a:spcPts val="900"/>
              </a:spcAft>
              <a:defRPr sz="1700" b="0">
                <a:solidFill>
                  <a:srgbClr val="E6ECF5"/>
                </a:solidFill>
              </a:defRPr>
            </a:pPr>
            <a:r>
              <a:rPr sz="1700" b="0">
                <a:solidFill>
                  <a:srgbClr val="E6ECF5"/>
                </a:solidFill>
              </a:rPr>
              <a:t>Scores are labelled uncalibrated heuristics; the UI no longer hard-codes certainty claims, statuses come from the API response.</a:t>
            </a:r>
          </a:p>
          <a:p>
            <a:pPr>
              <a:spcAft>
                <a:spcPts val="900"/>
              </a:spcAft>
              <a:defRPr sz="1700" b="0">
                <a:solidFill>
                  <a:srgbClr val="E6ECF5"/>
                </a:solidFill>
              </a:defRPr>
            </a:pPr>
            <a:r>
              <a:rPr sz="1700" b="0">
                <a:solidFill>
                  <a:srgbClr val="E6ECF5"/>
                </a:solidFill>
              </a:rPr>
              <a:t>Transparent degradation: replayed, code-fallback and local-sample steps are labelled in the trace. Decision-memory influence is traced.</a:t>
            </a:r>
          </a:p>
          <a:p>
            <a:pPr>
              <a:spcAft>
                <a:spcPts val="900"/>
              </a:spcAft>
              <a:defRPr sz="1700" b="0">
                <a:solidFill>
                  <a:srgbClr val="E6ECF5"/>
                </a:solidFill>
              </a:defRPr>
            </a:pPr>
            <a:r>
              <a:rPr sz="1700" b="0">
                <a:solidFill>
                  <a:srgbClr val="E6ECF5"/>
                </a:solidFill>
              </a:rPr>
              <a:t>Synthetic data only; no secrets in the repo or image; known bias risk if used on real records.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8C98AA"/>
                </a:solidFill>
              </a:defRPr>
            </a:pPr>
            <a:r>
              <a:rPr sz="1100" b="0">
                <a:solidFill>
                  <a:srgbClr val="8C98AA"/>
                </a:solidFill>
              </a:rPr>
              <a:t>Responsible AI   ·   12/14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ECF5"/>
                </a:solidFill>
              </a:defRPr>
            </a:pPr>
            <a:r>
              <a:rPr sz="3200" b="1">
                <a:solidFill>
                  <a:srgbClr val="E6ECF5"/>
                </a:solidFill>
              </a:rPr>
              <a:t>Future enhancements and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E6ECF5"/>
                </a:solidFill>
              </a:defRPr>
            </a:pPr>
            <a:r>
              <a:rPr sz="1700" b="0">
                <a:solidFill>
                  <a:srgbClr val="E6ECF5"/>
                </a:solidFill>
              </a:rPr>
              <a:t>Next: semantic retrieval once the routes are served; run the pre-registered --live evaluation; re-record fixtures; CCTV vision; crime-specific Scout intents; streamed progress; bound SQL parameters; calibrated confidence; analyst feedback.</a:t>
            </a:r>
          </a:p>
          <a:p>
            <a:pPr>
              <a:spcAft>
                <a:spcPts val="900"/>
              </a:spcAft>
              <a:defRPr sz="1700" b="0">
                <a:solidFill>
                  <a:srgbClr val="E6ECF5"/>
                </a:solidFill>
              </a:defRPr>
            </a:pPr>
            <a:r>
              <a:rPr sz="1700" b="0">
                <a:solidFill>
                  <a:srgbClr val="E6ECF5"/>
                </a:solidFill>
              </a:rPr>
              <a:t>Limits: synthetic data; 7-case dev set; INC-NORTH-0294 still missed by retrieval; fixtures need re-recording; new SQL and UI changes untested live; only H-MEM and Markovian run in the image; World Model and Scout need a mounted engine directory; Ultra is slow.</a:t>
            </a:r>
          </a:p>
          <a:p>
            <a:pPr>
              <a:spcAft>
                <a:spcPts val="900"/>
              </a:spcAft>
              <a:defRPr sz="1700" b="0">
                <a:solidFill>
                  <a:srgbClr val="E6ECF5"/>
                </a:solidFill>
              </a:defRPr>
            </a:pPr>
            <a:r>
              <a:rPr sz="1700" b="0">
                <a:solidFill>
                  <a:srgbClr val="E6ECF5"/>
                </a:solidFill>
              </a:rPr>
              <a:t>Real-world use would need legal basis, consent, oversight, and a privacy and bias review.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8C98AA"/>
                </a:solidFill>
              </a:defRPr>
            </a:pPr>
            <a:r>
              <a:rPr sz="1100" b="0">
                <a:solidFill>
                  <a:srgbClr val="8C98AA"/>
                </a:solidFill>
              </a:rPr>
              <a:t>Required point 8: future and limitations   ·   13/14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ECF5"/>
                </a:solidFill>
              </a:defRPr>
            </a:pPr>
            <a:r>
              <a:rPr sz="3200" b="1">
                <a:solidFill>
                  <a:srgbClr val="E6ECF5"/>
                </a:solidFill>
              </a:rPr>
              <a:t>Run it yourself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E6ECF5"/>
                </a:solidFill>
              </a:defRPr>
            </a:pPr>
            <a:r>
              <a:rPr sz="1700" b="0">
                <a:solidFill>
                  <a:srgbClr val="E6ECF5"/>
                </a:solidFill>
              </a:rPr>
              <a:t>docker build -t oah-submission .</a:t>
            </a:r>
          </a:p>
          <a:p>
            <a:pPr>
              <a:spcAft>
                <a:spcPts val="900"/>
              </a:spcAft>
              <a:defRPr sz="1700" b="0">
                <a:solidFill>
                  <a:srgbClr val="E6ECF5"/>
                </a:solidFill>
              </a:defRPr>
            </a:pPr>
            <a:r>
              <a:rPr sz="1700" b="0">
                <a:solidFill>
                  <a:srgbClr val="E6ECF5"/>
                </a:solidFill>
              </a:rPr>
              <a:t>docker run --rm -p 8000:8000 -e SAMPLE_MODE=true oah-submission</a:t>
            </a:r>
          </a:p>
          <a:p>
            <a:pPr>
              <a:spcAft>
                <a:spcPts val="900"/>
              </a:spcAft>
              <a:defRPr sz="1700" b="0">
                <a:solidFill>
                  <a:srgbClr val="E6ECF5"/>
                </a:solidFill>
              </a:defRPr>
            </a:pPr>
            <a:r>
              <a:rPr sz="1700" b="0">
                <a:solidFill>
                  <a:srgbClr val="E6ECF5"/>
                </a:solidFill>
              </a:rPr>
              <a:t>curl -X POST localhost:8000/run -H 'Content-Type: application/json' -d @input_examples/example_1.json</a:t>
            </a:r>
          </a:p>
          <a:p>
            <a:pPr>
              <a:spcAft>
                <a:spcPts val="900"/>
              </a:spcAft>
              <a:defRPr sz="1700" b="0">
                <a:solidFill>
                  <a:srgbClr val="E6ECF5"/>
                </a:solidFill>
              </a:defRPr>
            </a:pPr>
            <a:r>
              <a:rPr sz="1700" b="0">
                <a:solidFill>
                  <a:srgbClr val="E6ECF5"/>
                </a:solidFill>
              </a:rPr>
              <a:t>docker logs &lt;container&gt;   (one TRACE line per event)</a:t>
            </a:r>
          </a:p>
          <a:p>
            <a:pPr>
              <a:spcAft>
                <a:spcPts val="900"/>
              </a:spcAft>
              <a:defRPr sz="1700" b="0">
                <a:solidFill>
                  <a:srgbClr val="E6ECF5"/>
                </a:solidFill>
              </a:defRPr>
            </a:pPr>
            <a:r>
              <a:rPr sz="1700" b="0">
                <a:solidFill>
                  <a:srgbClr val="E6ECF5"/>
                </a:solidFill>
              </a:rPr>
              <a:t>No credentials, no network, no login.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8C98AA"/>
                </a:solidFill>
              </a:defRPr>
            </a:pPr>
            <a:r>
              <a:rPr sz="1100" b="0">
                <a:solidFill>
                  <a:srgbClr val="8C98AA"/>
                </a:solidFill>
              </a:rPr>
              <a:t>Judge path   ·   14/14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